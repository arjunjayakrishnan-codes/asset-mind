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234440"/>
            <a:ext cx="1371600" cy="1371600"/>
          </a:xfrm>
          <a:prstGeom prst="ellipse">
            <a:avLst/>
          </a:prstGeom>
          <a:solidFill>
            <a:srgbClr val="5A9DE0"/>
          </a:solidFill>
          <a:ln/>
        </p:spPr>
      </p:sp>
      <p:sp>
        <p:nvSpPr>
          <p:cNvPr id="3" name="Shape 1"/>
          <p:cNvSpPr/>
          <p:nvPr/>
        </p:nvSpPr>
        <p:spPr>
          <a:xfrm>
            <a:off x="6615684" y="1769364"/>
            <a:ext cx="301752" cy="301752"/>
          </a:xfrm>
          <a:prstGeom prst="roundRect">
            <a:avLst>
              <a:gd name="adj" fmla="val 6061"/>
            </a:avLst>
          </a:prstGeom>
          <a:solidFill>
            <a:srgbClr val="5A9DE0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6414818" y="2254298"/>
            <a:ext cx="301752" cy="301752"/>
          </a:xfrm>
          <a:prstGeom prst="roundRect">
            <a:avLst>
              <a:gd name="adj" fmla="val 6061"/>
            </a:avLst>
          </a:prstGeom>
          <a:solidFill>
            <a:srgbClr val="5A9DE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929884" y="2455164"/>
            <a:ext cx="301752" cy="301752"/>
          </a:xfrm>
          <a:prstGeom prst="roundRect">
            <a:avLst>
              <a:gd name="adj" fmla="val 6061"/>
            </a:avLst>
          </a:prstGeom>
          <a:solidFill>
            <a:srgbClr val="5A9DE0"/>
          </a:solidFill>
          <a:ln/>
        </p:spPr>
      </p:sp>
      <p:sp>
        <p:nvSpPr>
          <p:cNvPr id="6" name="Shape 4"/>
          <p:cNvSpPr/>
          <p:nvPr/>
        </p:nvSpPr>
        <p:spPr>
          <a:xfrm rot="8100000">
            <a:off x="5444950" y="2254298"/>
            <a:ext cx="301752" cy="301752"/>
          </a:xfrm>
          <a:prstGeom prst="roundRect">
            <a:avLst>
              <a:gd name="adj" fmla="val 6061"/>
            </a:avLst>
          </a:prstGeom>
          <a:solidFill>
            <a:srgbClr val="5A9DE0"/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5244084" y="1769364"/>
            <a:ext cx="301752" cy="301752"/>
          </a:xfrm>
          <a:prstGeom prst="roundRect">
            <a:avLst>
              <a:gd name="adj" fmla="val 6061"/>
            </a:avLst>
          </a:prstGeom>
          <a:solidFill>
            <a:srgbClr val="5A9DE0"/>
          </a:solidFill>
          <a:ln/>
        </p:spPr>
      </p:sp>
      <p:sp>
        <p:nvSpPr>
          <p:cNvPr id="8" name="Shape 6"/>
          <p:cNvSpPr/>
          <p:nvPr/>
        </p:nvSpPr>
        <p:spPr>
          <a:xfrm rot="13500000">
            <a:off x="5444950" y="1284430"/>
            <a:ext cx="301752" cy="301752"/>
          </a:xfrm>
          <a:prstGeom prst="roundRect">
            <a:avLst>
              <a:gd name="adj" fmla="val 6061"/>
            </a:avLst>
          </a:prstGeom>
          <a:solidFill>
            <a:srgbClr val="5A9DE0"/>
          </a:solidFill>
          <a:ln/>
        </p:spPr>
      </p:sp>
      <p:sp>
        <p:nvSpPr>
          <p:cNvPr id="9" name="Shape 7"/>
          <p:cNvSpPr/>
          <p:nvPr/>
        </p:nvSpPr>
        <p:spPr>
          <a:xfrm rot="16200000">
            <a:off x="5929884" y="1083564"/>
            <a:ext cx="301752" cy="301752"/>
          </a:xfrm>
          <a:prstGeom prst="roundRect">
            <a:avLst>
              <a:gd name="adj" fmla="val 6061"/>
            </a:avLst>
          </a:prstGeom>
          <a:solidFill>
            <a:srgbClr val="5A9DE0"/>
          </a:solidFill>
          <a:ln/>
        </p:spPr>
      </p:sp>
      <p:sp>
        <p:nvSpPr>
          <p:cNvPr id="10" name="Shape 8"/>
          <p:cNvSpPr/>
          <p:nvPr/>
        </p:nvSpPr>
        <p:spPr>
          <a:xfrm rot="18900000">
            <a:off x="6414818" y="1284430"/>
            <a:ext cx="301752" cy="301752"/>
          </a:xfrm>
          <a:prstGeom prst="roundRect">
            <a:avLst>
              <a:gd name="adj" fmla="val 6061"/>
            </a:avLst>
          </a:prstGeom>
          <a:solidFill>
            <a:srgbClr val="5A9DE0"/>
          </a:solidFill>
          <a:ln/>
        </p:spPr>
      </p:sp>
      <p:sp>
        <p:nvSpPr>
          <p:cNvPr id="11" name="Shape 9"/>
          <p:cNvSpPr/>
          <p:nvPr/>
        </p:nvSpPr>
        <p:spPr>
          <a:xfrm>
            <a:off x="5655564" y="1495044"/>
            <a:ext cx="850392" cy="850392"/>
          </a:xfrm>
          <a:prstGeom prst="ellipse">
            <a:avLst/>
          </a:prstGeom>
          <a:solidFill>
            <a:srgbClr val="101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6080760" y="1591056"/>
            <a:ext cx="0" cy="658368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51576" y="1920240"/>
            <a:ext cx="658368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2691" y="1822171"/>
            <a:ext cx="196139" cy="196139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6005322" y="1515618"/>
            <a:ext cx="150876" cy="15087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6005322" y="2173986"/>
            <a:ext cx="150876" cy="15087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5676138" y="1844802"/>
            <a:ext cx="150876" cy="15087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Shape 16"/>
          <p:cNvSpPr/>
          <p:nvPr/>
        </p:nvSpPr>
        <p:spPr>
          <a:xfrm>
            <a:off x="6334506" y="1844802"/>
            <a:ext cx="150876" cy="15087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2788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ASSETMIND // v0.3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3108960"/>
            <a:ext cx="12188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AssetMind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0" y="4160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Documents to Decisions.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0" y="4800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Intelligence Platform  ·  ET AI Hackathon 2026  ·  Problem Statement 8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AssetMind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5A9DE0"/>
          </a:solidFill>
          <a:ln/>
        </p:spPr>
      </p:sp>
      <p:sp>
        <p:nvSpPr>
          <p:cNvPr id="3" name="Shape 1"/>
          <p:cNvSpPr/>
          <p:nvPr/>
        </p:nvSpPr>
        <p:spPr>
          <a:xfrm>
            <a:off x="950519" y="65333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876868" y="831148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699059" y="90479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6" name="Shape 4"/>
          <p:cNvSpPr/>
          <p:nvPr/>
        </p:nvSpPr>
        <p:spPr>
          <a:xfrm rot="8100000">
            <a:off x="521250" y="831148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447599" y="65333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8" name="Shape 6"/>
          <p:cNvSpPr/>
          <p:nvPr/>
        </p:nvSpPr>
        <p:spPr>
          <a:xfrm rot="13500000">
            <a:off x="521250" y="475530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9" name="Shape 7"/>
          <p:cNvSpPr/>
          <p:nvPr/>
        </p:nvSpPr>
        <p:spPr>
          <a:xfrm rot="16200000">
            <a:off x="699059" y="40187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10" name="Shape 8"/>
          <p:cNvSpPr/>
          <p:nvPr/>
        </p:nvSpPr>
        <p:spPr>
          <a:xfrm rot="18900000">
            <a:off x="876868" y="475530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11" name="Shape 9"/>
          <p:cNvSpPr/>
          <p:nvPr/>
        </p:nvSpPr>
        <p:spPr>
          <a:xfrm>
            <a:off x="598475" y="552755"/>
            <a:ext cx="311810" cy="311810"/>
          </a:xfrm>
          <a:prstGeom prst="ellipse">
            <a:avLst/>
          </a:prstGeom>
          <a:solidFill>
            <a:srgbClr val="101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754380" y="587959"/>
            <a:ext cx="0" cy="24140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3679" y="708660"/>
            <a:ext cx="24140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8421" y="672701"/>
            <a:ext cx="71918" cy="7191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726719" y="5602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726719" y="801700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606019" y="6809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Shape 16"/>
          <p:cNvSpPr/>
          <p:nvPr/>
        </p:nvSpPr>
        <p:spPr>
          <a:xfrm>
            <a:off x="847420" y="6809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38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Plants drown in disconnected documents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logs, permits, incident reports, SOPs, specs, and scanned manuals live in 7–12 siloed systems per plant. Nothing talks to anything else — so engineers re-discover the same failures, compliance gaps, and near-misses over and over again.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90779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5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7–12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777240" y="37033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document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per plant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43400" y="26517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290779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4572000" y="37033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engineer time lost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information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38160" y="26517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290779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B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8366760" y="37033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cross-referencing between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permits &amp; compliance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repeated failures, missed compliance gaps, and slow root-cause analysis — the exact cost of information fragmentation, not a lack of data.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AssetMind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5A9DE0"/>
          </a:solidFill>
          <a:ln/>
        </p:spPr>
      </p:sp>
      <p:sp>
        <p:nvSpPr>
          <p:cNvPr id="3" name="Shape 1"/>
          <p:cNvSpPr/>
          <p:nvPr/>
        </p:nvSpPr>
        <p:spPr>
          <a:xfrm>
            <a:off x="950519" y="65333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876868" y="831148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699059" y="90479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6" name="Shape 4"/>
          <p:cNvSpPr/>
          <p:nvPr/>
        </p:nvSpPr>
        <p:spPr>
          <a:xfrm rot="8100000">
            <a:off x="521250" y="831148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447599" y="65333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8" name="Shape 6"/>
          <p:cNvSpPr/>
          <p:nvPr/>
        </p:nvSpPr>
        <p:spPr>
          <a:xfrm rot="13500000">
            <a:off x="521250" y="475530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9" name="Shape 7"/>
          <p:cNvSpPr/>
          <p:nvPr/>
        </p:nvSpPr>
        <p:spPr>
          <a:xfrm rot="16200000">
            <a:off x="699059" y="40187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10" name="Shape 8"/>
          <p:cNvSpPr/>
          <p:nvPr/>
        </p:nvSpPr>
        <p:spPr>
          <a:xfrm rot="18900000">
            <a:off x="876868" y="475530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11" name="Shape 9"/>
          <p:cNvSpPr/>
          <p:nvPr/>
        </p:nvSpPr>
        <p:spPr>
          <a:xfrm>
            <a:off x="598475" y="552755"/>
            <a:ext cx="311810" cy="311810"/>
          </a:xfrm>
          <a:prstGeom prst="ellipse">
            <a:avLst/>
          </a:prstGeom>
          <a:solidFill>
            <a:srgbClr val="101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754380" y="587959"/>
            <a:ext cx="0" cy="24140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3679" y="708660"/>
            <a:ext cx="24140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8421" y="672701"/>
            <a:ext cx="71918" cy="7191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726719" y="5602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726719" y="801700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606019" y="6809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Shape 16"/>
          <p:cNvSpPr/>
          <p:nvPr/>
        </p:nvSpPr>
        <p:spPr>
          <a:xfrm>
            <a:off x="847420" y="6809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38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platform, six connected capabilities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AssetMind ingests every document type once, links everything into a shared knowledge graph, and reasons over it agentically.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2057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2258568"/>
            <a:ext cx="310896" cy="310896"/>
          </a:xfrm>
          <a:prstGeom prst="ellipse">
            <a:avLst/>
          </a:prstGeom>
          <a:solidFill>
            <a:srgbClr val="5A9DE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267919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Intelligence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49808" y="3044952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scans, and handwritten photos — OCR'd, chunked, embedded automatically.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43400" y="2057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44568" y="2258568"/>
            <a:ext cx="310896" cy="310896"/>
          </a:xfrm>
          <a:prstGeom prst="ellipse">
            <a:avLst/>
          </a:prstGeom>
          <a:solidFill>
            <a:srgbClr val="3FB6B0"/>
          </a:solidFill>
          <a:ln/>
        </p:spPr>
      </p:sp>
      <p:sp>
        <p:nvSpPr>
          <p:cNvPr id="28" name="Text 26"/>
          <p:cNvSpPr/>
          <p:nvPr/>
        </p:nvSpPr>
        <p:spPr>
          <a:xfrm>
            <a:off x="4544568" y="267919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44568" y="3044952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↔ chunks ↔ entities, linked and explorable as one connected object.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2057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9328" y="2258568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8339328" y="267919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AI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39328" y="3044952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→ Knowledge Graph → Compliance → RCA → Final Reasoning, chained and visible.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2519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4453128"/>
            <a:ext cx="310896" cy="310896"/>
          </a:xfrm>
          <a:prstGeom prst="ellipse">
            <a:avLst/>
          </a:prstGeom>
          <a:solidFill>
            <a:srgbClr val="E05A5A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487375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49808" y="5239512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equipment/incident language surfaced before it becomes a failure.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343400" y="42519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44568" y="4453128"/>
            <a:ext cx="310896" cy="310896"/>
          </a:xfrm>
          <a:prstGeom prst="ellipse">
            <a:avLst/>
          </a:prstGeom>
          <a:solidFill>
            <a:srgbClr val="5A9DE0"/>
          </a:solidFill>
          <a:ln/>
        </p:spPr>
      </p:sp>
      <p:sp>
        <p:nvSpPr>
          <p:cNvPr id="40" name="Text 38"/>
          <p:cNvSpPr/>
          <p:nvPr/>
        </p:nvSpPr>
        <p:spPr>
          <a:xfrm>
            <a:off x="4544568" y="487375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4544568" y="5239512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coverage of OISD, DGMS, PESO, TIA-942, ISO — verified against the real corpus.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138160" y="42519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39328" y="4453128"/>
            <a:ext cx="310896" cy="310896"/>
          </a:xfrm>
          <a:prstGeom prst="ellipse">
            <a:avLst/>
          </a:prstGeom>
          <a:solidFill>
            <a:srgbClr val="3FB6B0"/>
          </a:solidFill>
          <a:ln/>
        </p:spPr>
      </p:sp>
      <p:sp>
        <p:nvSpPr>
          <p:cNvPr id="44" name="Text 42"/>
          <p:cNvSpPr/>
          <p:nvPr/>
        </p:nvSpPr>
        <p:spPr>
          <a:xfrm>
            <a:off x="8339328" y="487375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AssetMind Twin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8339328" y="5239512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plant-layout dossier: permits, RCA timeline, and linked documents per asset.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AssetMind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5A9DE0"/>
          </a:solidFill>
          <a:ln/>
        </p:spPr>
      </p:sp>
      <p:sp>
        <p:nvSpPr>
          <p:cNvPr id="3" name="Shape 1"/>
          <p:cNvSpPr/>
          <p:nvPr/>
        </p:nvSpPr>
        <p:spPr>
          <a:xfrm>
            <a:off x="950519" y="65333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876868" y="831148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699059" y="90479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6" name="Shape 4"/>
          <p:cNvSpPr/>
          <p:nvPr/>
        </p:nvSpPr>
        <p:spPr>
          <a:xfrm rot="8100000">
            <a:off x="521250" y="831148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447599" y="65333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8" name="Shape 6"/>
          <p:cNvSpPr/>
          <p:nvPr/>
        </p:nvSpPr>
        <p:spPr>
          <a:xfrm rot="13500000">
            <a:off x="521250" y="475530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9" name="Shape 7"/>
          <p:cNvSpPr/>
          <p:nvPr/>
        </p:nvSpPr>
        <p:spPr>
          <a:xfrm rot="16200000">
            <a:off x="699059" y="40187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10" name="Shape 8"/>
          <p:cNvSpPr/>
          <p:nvPr/>
        </p:nvSpPr>
        <p:spPr>
          <a:xfrm rot="18900000">
            <a:off x="876868" y="475530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11" name="Shape 9"/>
          <p:cNvSpPr/>
          <p:nvPr/>
        </p:nvSpPr>
        <p:spPr>
          <a:xfrm>
            <a:off x="598475" y="552755"/>
            <a:ext cx="311810" cy="311810"/>
          </a:xfrm>
          <a:prstGeom prst="ellipse">
            <a:avLst/>
          </a:prstGeom>
          <a:solidFill>
            <a:srgbClr val="101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754380" y="587959"/>
            <a:ext cx="0" cy="24140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3679" y="708660"/>
            <a:ext cx="24140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8421" y="672701"/>
            <a:ext cx="71918" cy="7191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726719" y="5602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726719" y="801700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606019" y="6809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Shape 16"/>
          <p:cNvSpPr/>
          <p:nvPr/>
        </p:nvSpPr>
        <p:spPr>
          <a:xfrm>
            <a:off x="847420" y="6809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38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Single-page frontend, modular FastAPI backend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40080" y="1828800"/>
            <a:ext cx="2377440" cy="3063240"/>
          </a:xfrm>
          <a:prstGeom prst="roundRect">
            <a:avLst>
              <a:gd name="adj" fmla="val 3077"/>
            </a:avLst>
          </a:prstGeom>
          <a:solidFill>
            <a:srgbClr val="161B23"/>
          </a:solidFill>
          <a:ln w="19050">
            <a:solidFill>
              <a:srgbClr val="5A9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9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24231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Cytoscape.js graph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digital twin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I/O (Web Speech)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3195828"/>
            <a:ext cx="502920" cy="329184"/>
          </a:xfrm>
          <a:prstGeom prst="rightArrow">
            <a:avLst/>
          </a:prstGeom>
          <a:solidFill>
            <a:srgbClr val="2A323F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0480" y="1828800"/>
            <a:ext cx="8138160" cy="3063240"/>
          </a:xfrm>
          <a:prstGeom prst="roundRect">
            <a:avLst>
              <a:gd name="adj" fmla="val 2388"/>
            </a:avLst>
          </a:prstGeom>
          <a:solidFill>
            <a:srgbClr val="161B23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023360" y="2487168"/>
            <a:ext cx="7772400" cy="420624"/>
          </a:xfrm>
          <a:prstGeom prst="roundRect">
            <a:avLst>
              <a:gd name="adj" fmla="val 10870"/>
            </a:avLst>
          </a:prstGeom>
          <a:solidFill>
            <a:srgbClr val="1C222C"/>
          </a:solidFill>
          <a:ln w="9525">
            <a:solidFill>
              <a:srgbClr val="2A32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24871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ingest.py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248716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TXT / image parsing + OCR fallback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023360" y="2953512"/>
            <a:ext cx="7772400" cy="420624"/>
          </a:xfrm>
          <a:prstGeom prst="roundRect">
            <a:avLst>
              <a:gd name="adj" fmla="val 10870"/>
            </a:avLst>
          </a:prstGeom>
          <a:solidFill>
            <a:srgbClr val="1C222C"/>
          </a:solidFill>
          <a:ln w="9525">
            <a:solidFill>
              <a:srgbClr val="2A32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29535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entities.py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295351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equipment, permit &amp; standard extraction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023360" y="3419856"/>
            <a:ext cx="7772400" cy="420624"/>
          </a:xfrm>
          <a:prstGeom prst="roundRect">
            <a:avLst>
              <a:gd name="adj" fmla="val 10870"/>
            </a:avLst>
          </a:prstGeom>
          <a:solidFill>
            <a:srgbClr val="1C222C"/>
          </a:solidFill>
          <a:ln w="9525">
            <a:solidFill>
              <a:srgbClr val="2A32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341985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vector_store.py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341985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+ FAISS, auto-falls back to TF-IDF offline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023360" y="3886200"/>
            <a:ext cx="7772400" cy="420624"/>
          </a:xfrm>
          <a:prstGeom prst="roundRect">
            <a:avLst>
              <a:gd name="adj" fmla="val 10870"/>
            </a:avLst>
          </a:prstGeom>
          <a:solidFill>
            <a:srgbClr val="1C222C"/>
          </a:solidFill>
          <a:ln w="9525">
            <a:solidFill>
              <a:srgbClr val="2A32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388620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knowledge_graph.py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38862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graph — documents ↔ chunks ↔ entities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023360" y="4352544"/>
            <a:ext cx="7772400" cy="420624"/>
          </a:xfrm>
          <a:prstGeom prst="roundRect">
            <a:avLst>
              <a:gd name="adj" fmla="val 10870"/>
            </a:avLst>
          </a:prstGeom>
          <a:solidFill>
            <a:srgbClr val="1C222C"/>
          </a:solidFill>
          <a:ln w="9525">
            <a:solidFill>
              <a:srgbClr val="2A323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435254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agents.py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4352544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orchestration · RCA · Compliance · Exec Summary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" y="4983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degrades gracefully: no OCR binaries → skip OCR and keep native text · no LLM key → extractive fallback · no internet → TF-IDF instead of embeddings. Nothing crashes the demo.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AssetMind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5A9DE0"/>
          </a:solidFill>
          <a:ln/>
        </p:spPr>
      </p:sp>
      <p:sp>
        <p:nvSpPr>
          <p:cNvPr id="3" name="Shape 1"/>
          <p:cNvSpPr/>
          <p:nvPr/>
        </p:nvSpPr>
        <p:spPr>
          <a:xfrm>
            <a:off x="950519" y="65333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876868" y="831148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699059" y="90479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6" name="Shape 4"/>
          <p:cNvSpPr/>
          <p:nvPr/>
        </p:nvSpPr>
        <p:spPr>
          <a:xfrm rot="8100000">
            <a:off x="521250" y="831148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447599" y="65333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8" name="Shape 6"/>
          <p:cNvSpPr/>
          <p:nvPr/>
        </p:nvSpPr>
        <p:spPr>
          <a:xfrm rot="13500000">
            <a:off x="521250" y="475530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9" name="Shape 7"/>
          <p:cNvSpPr/>
          <p:nvPr/>
        </p:nvSpPr>
        <p:spPr>
          <a:xfrm rot="16200000">
            <a:off x="699059" y="40187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10" name="Shape 8"/>
          <p:cNvSpPr/>
          <p:nvPr/>
        </p:nvSpPr>
        <p:spPr>
          <a:xfrm rot="18900000">
            <a:off x="876868" y="475530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11" name="Shape 9"/>
          <p:cNvSpPr/>
          <p:nvPr/>
        </p:nvSpPr>
        <p:spPr>
          <a:xfrm>
            <a:off x="598475" y="552755"/>
            <a:ext cx="311810" cy="311810"/>
          </a:xfrm>
          <a:prstGeom prst="ellipse">
            <a:avLst/>
          </a:prstGeom>
          <a:solidFill>
            <a:srgbClr val="101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754380" y="587959"/>
            <a:ext cx="0" cy="24140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3679" y="708660"/>
            <a:ext cx="24140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8421" y="672701"/>
            <a:ext cx="71918" cy="7191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726719" y="5602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726719" y="801700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606019" y="6809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Shape 16"/>
          <p:cNvSpPr/>
          <p:nvPr/>
        </p:nvSpPr>
        <p:spPr>
          <a:xfrm>
            <a:off x="847420" y="6809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38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story: "Why is Pump P-101A failing?"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cross-referenced documents around one asset — every panel lights up around the same story.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15875">
            <a:solidFill>
              <a:srgbClr val="5A9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386584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9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258775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19072" y="2532888"/>
            <a:ext cx="66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785366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15875">
            <a:solidFill>
              <a:srgbClr val="5A9D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85366" y="2386584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9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31086" y="258775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55798" y="2532888"/>
            <a:ext cx="66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022092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15875">
            <a:solidFill>
              <a:srgbClr val="5A9D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22092" y="2386584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9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67812" y="258775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92524" y="2532888"/>
            <a:ext cx="66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58818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15875">
            <a:solidFill>
              <a:srgbClr val="5A9D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58818" y="2386584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9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04538" y="258775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29250" y="2532888"/>
            <a:ext cx="66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95544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15875">
            <a:solidFill>
              <a:srgbClr val="5A9D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95544" y="2386584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9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41264" y="258775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65976" y="2532888"/>
            <a:ext cx="66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732270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15875">
            <a:solidFill>
              <a:srgbClr val="5A9D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32270" y="2386584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9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77990" y="258775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AssetMind Twin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02702" y="2532888"/>
            <a:ext cx="66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968996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15875">
            <a:solidFill>
              <a:srgbClr val="5A9D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68996" y="2386584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9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014716" y="258775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Timeline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139428" y="2532888"/>
            <a:ext cx="66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9205722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15875">
            <a:solidFill>
              <a:srgbClr val="5A9D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05722" y="2386584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9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251442" y="258775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376154" y="2532888"/>
            <a:ext cx="66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10442448" y="233172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15875">
            <a:solidFill>
              <a:srgbClr val="3FB6B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442448" y="2386584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488168" y="2587752"/>
            <a:ext cx="1078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48640" y="35661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9808" y="37673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Cited answers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749808" y="4187952"/>
            <a:ext cx="32095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copilot response grounded in retrieved passages with source + page.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4343400" y="35661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44568" y="37673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agent trace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4544568" y="4187952"/>
            <a:ext cx="32095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→ Graph → Compliance → RCA → Reasoning, not one opaque call.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8138160" y="35661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39328" y="37673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dossier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8339328" y="4187952"/>
            <a:ext cx="32095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AssetMind Twin surfaces permits, timeline &amp; documents per asset instantly.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AssetMind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5A9DE0"/>
          </a:solidFill>
          <a:ln/>
        </p:spPr>
      </p:sp>
      <p:sp>
        <p:nvSpPr>
          <p:cNvPr id="3" name="Shape 1"/>
          <p:cNvSpPr/>
          <p:nvPr/>
        </p:nvSpPr>
        <p:spPr>
          <a:xfrm>
            <a:off x="950519" y="65333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876868" y="831148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699059" y="90479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6" name="Shape 4"/>
          <p:cNvSpPr/>
          <p:nvPr/>
        </p:nvSpPr>
        <p:spPr>
          <a:xfrm rot="8100000">
            <a:off x="521250" y="831148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447599" y="65333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8" name="Shape 6"/>
          <p:cNvSpPr/>
          <p:nvPr/>
        </p:nvSpPr>
        <p:spPr>
          <a:xfrm rot="13500000">
            <a:off x="521250" y="475530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9" name="Shape 7"/>
          <p:cNvSpPr/>
          <p:nvPr/>
        </p:nvSpPr>
        <p:spPr>
          <a:xfrm rot="16200000">
            <a:off x="699059" y="401879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10" name="Shape 8"/>
          <p:cNvSpPr/>
          <p:nvPr/>
        </p:nvSpPr>
        <p:spPr>
          <a:xfrm rot="18900000">
            <a:off x="876868" y="475530"/>
            <a:ext cx="110642" cy="110642"/>
          </a:xfrm>
          <a:prstGeom prst="roundRect">
            <a:avLst>
              <a:gd name="adj" fmla="val 16529"/>
            </a:avLst>
          </a:prstGeom>
          <a:solidFill>
            <a:srgbClr val="5A9DE0"/>
          </a:solidFill>
          <a:ln/>
        </p:spPr>
      </p:sp>
      <p:sp>
        <p:nvSpPr>
          <p:cNvPr id="11" name="Shape 9"/>
          <p:cNvSpPr/>
          <p:nvPr/>
        </p:nvSpPr>
        <p:spPr>
          <a:xfrm>
            <a:off x="598475" y="552755"/>
            <a:ext cx="311810" cy="311810"/>
          </a:xfrm>
          <a:prstGeom prst="ellipse">
            <a:avLst/>
          </a:prstGeom>
          <a:solidFill>
            <a:srgbClr val="101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754380" y="587959"/>
            <a:ext cx="0" cy="24140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3679" y="708660"/>
            <a:ext cx="241402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8421" y="672701"/>
            <a:ext cx="71918" cy="7191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726719" y="5602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726719" y="801700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606019" y="6809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Shape 16"/>
          <p:cNvSpPr/>
          <p:nvPr/>
        </p:nvSpPr>
        <p:spPr>
          <a:xfrm>
            <a:off x="847420" y="680999"/>
            <a:ext cx="55321" cy="5532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38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documents to decisions — measurably faster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548640" y="1737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1965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FB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&lt;2s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13232" y="278892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answer time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question to cited response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1737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965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A9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&lt;5s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3547872" y="278892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5-agent workflow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→ Graph → Compliance → RCA → Answer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1737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965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6382512" y="278892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checklist coverage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real ingested corpus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52560" y="1737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61B23"/>
          </a:solidFill>
          <a:ln w="12700">
            <a:solidFill>
              <a:srgbClr val="2A32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1965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5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→ 1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9217152" y="278892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unified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one connected knowledge graph per asset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time goes back to the plant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4360" y="4489704"/>
            <a:ext cx="91440" cy="91440"/>
          </a:xfrm>
          <a:prstGeom prst="ellipse">
            <a:avLst/>
          </a:prstGeom>
          <a:solidFill>
            <a:srgbClr val="3FB6B0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37997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stop re-discovering the same failure across 7–12 disconnected systems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94360" y="4873752"/>
            <a:ext cx="91440" cy="91440"/>
          </a:xfrm>
          <a:prstGeom prst="ellipse">
            <a:avLst/>
          </a:prstGeom>
          <a:solidFill>
            <a:srgbClr val="3FB6B0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476402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 are caught against the real corpus, not asserted from memory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94360" y="5257800"/>
            <a:ext cx="91440" cy="91440"/>
          </a:xfrm>
          <a:prstGeom prst="ellipse">
            <a:avLst/>
          </a:prstGeom>
          <a:solidFill>
            <a:srgbClr val="3FB6B0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514807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risk (e.g. repeated P-101A near-misses) surfaces before it becomes an incident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94360" y="5641848"/>
            <a:ext cx="91440" cy="91440"/>
          </a:xfrm>
          <a:prstGeom prst="ellipse">
            <a:avLst/>
          </a:prstGeom>
          <a:solidFill>
            <a:srgbClr val="3FB6B0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5532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executive report replaces hours of manual report assembly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AssetMind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502920"/>
            <a:ext cx="1097280" cy="1097280"/>
          </a:xfrm>
          <a:prstGeom prst="ellipse">
            <a:avLst/>
          </a:prstGeom>
          <a:solidFill>
            <a:srgbClr val="5A9DE0"/>
          </a:solidFill>
          <a:ln/>
        </p:spPr>
      </p:sp>
      <p:sp>
        <p:nvSpPr>
          <p:cNvPr id="3" name="Shape 1"/>
          <p:cNvSpPr/>
          <p:nvPr/>
        </p:nvSpPr>
        <p:spPr>
          <a:xfrm>
            <a:off x="6371539" y="930859"/>
            <a:ext cx="241402" cy="241402"/>
          </a:xfrm>
          <a:prstGeom prst="roundRect">
            <a:avLst>
              <a:gd name="adj" fmla="val 7576"/>
            </a:avLst>
          </a:prstGeom>
          <a:solidFill>
            <a:srgbClr val="5A9DE0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6210846" y="1318806"/>
            <a:ext cx="241402" cy="241402"/>
          </a:xfrm>
          <a:prstGeom prst="roundRect">
            <a:avLst>
              <a:gd name="adj" fmla="val 7576"/>
            </a:avLst>
          </a:prstGeom>
          <a:solidFill>
            <a:srgbClr val="5A9DE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22899" y="1479499"/>
            <a:ext cx="241402" cy="241402"/>
          </a:xfrm>
          <a:prstGeom prst="roundRect">
            <a:avLst>
              <a:gd name="adj" fmla="val 7576"/>
            </a:avLst>
          </a:prstGeom>
          <a:solidFill>
            <a:srgbClr val="5A9DE0"/>
          </a:solidFill>
          <a:ln/>
        </p:spPr>
      </p:sp>
      <p:sp>
        <p:nvSpPr>
          <p:cNvPr id="6" name="Shape 4"/>
          <p:cNvSpPr/>
          <p:nvPr/>
        </p:nvSpPr>
        <p:spPr>
          <a:xfrm rot="8100000">
            <a:off x="5434952" y="1318806"/>
            <a:ext cx="241402" cy="241402"/>
          </a:xfrm>
          <a:prstGeom prst="roundRect">
            <a:avLst>
              <a:gd name="adj" fmla="val 7576"/>
            </a:avLst>
          </a:prstGeom>
          <a:solidFill>
            <a:srgbClr val="5A9DE0"/>
          </a:solidFill>
          <a:ln/>
        </p:spPr>
      </p:sp>
      <p:sp>
        <p:nvSpPr>
          <p:cNvPr id="7" name="Shape 5"/>
          <p:cNvSpPr/>
          <p:nvPr/>
        </p:nvSpPr>
        <p:spPr>
          <a:xfrm rot="10800000">
            <a:off x="5274259" y="930859"/>
            <a:ext cx="241402" cy="241402"/>
          </a:xfrm>
          <a:prstGeom prst="roundRect">
            <a:avLst>
              <a:gd name="adj" fmla="val 7576"/>
            </a:avLst>
          </a:prstGeom>
          <a:solidFill>
            <a:srgbClr val="5A9DE0"/>
          </a:solidFill>
          <a:ln/>
        </p:spPr>
      </p:sp>
      <p:sp>
        <p:nvSpPr>
          <p:cNvPr id="8" name="Shape 6"/>
          <p:cNvSpPr/>
          <p:nvPr/>
        </p:nvSpPr>
        <p:spPr>
          <a:xfrm rot="13500000">
            <a:off x="5434952" y="542912"/>
            <a:ext cx="241402" cy="241402"/>
          </a:xfrm>
          <a:prstGeom prst="roundRect">
            <a:avLst>
              <a:gd name="adj" fmla="val 7576"/>
            </a:avLst>
          </a:prstGeom>
          <a:solidFill>
            <a:srgbClr val="5A9DE0"/>
          </a:solidFill>
          <a:ln/>
        </p:spPr>
      </p:sp>
      <p:sp>
        <p:nvSpPr>
          <p:cNvPr id="9" name="Shape 7"/>
          <p:cNvSpPr/>
          <p:nvPr/>
        </p:nvSpPr>
        <p:spPr>
          <a:xfrm rot="16200000">
            <a:off x="5822899" y="382219"/>
            <a:ext cx="241402" cy="241402"/>
          </a:xfrm>
          <a:prstGeom prst="roundRect">
            <a:avLst>
              <a:gd name="adj" fmla="val 7576"/>
            </a:avLst>
          </a:prstGeom>
          <a:solidFill>
            <a:srgbClr val="5A9DE0"/>
          </a:solidFill>
          <a:ln/>
        </p:spPr>
      </p:sp>
      <p:sp>
        <p:nvSpPr>
          <p:cNvPr id="10" name="Shape 8"/>
          <p:cNvSpPr/>
          <p:nvPr/>
        </p:nvSpPr>
        <p:spPr>
          <a:xfrm rot="18900000">
            <a:off x="6210846" y="542912"/>
            <a:ext cx="241402" cy="241402"/>
          </a:xfrm>
          <a:prstGeom prst="roundRect">
            <a:avLst>
              <a:gd name="adj" fmla="val 7576"/>
            </a:avLst>
          </a:prstGeom>
          <a:solidFill>
            <a:srgbClr val="5A9DE0"/>
          </a:solidFill>
          <a:ln/>
        </p:spPr>
      </p:sp>
      <p:sp>
        <p:nvSpPr>
          <p:cNvPr id="11" name="Shape 9"/>
          <p:cNvSpPr/>
          <p:nvPr/>
        </p:nvSpPr>
        <p:spPr>
          <a:xfrm>
            <a:off x="5603443" y="711403"/>
            <a:ext cx="680314" cy="680314"/>
          </a:xfrm>
          <a:prstGeom prst="ellipse">
            <a:avLst/>
          </a:prstGeom>
          <a:solidFill>
            <a:srgbClr val="101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788213"/>
            <a:ext cx="0" cy="526694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80253" y="1051560"/>
            <a:ext cx="526694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65144" y="973104"/>
            <a:ext cx="156911" cy="15691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5883250" y="727862"/>
            <a:ext cx="120701" cy="12070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5883250" y="1254557"/>
            <a:ext cx="120701" cy="12070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5619902" y="991210"/>
            <a:ext cx="120701" cy="12070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6597" y="991210"/>
            <a:ext cx="120701" cy="12070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1691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20116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Extending toward production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914400" y="2935224"/>
            <a:ext cx="201168" cy="201168"/>
          </a:xfrm>
          <a:prstGeom prst="ellipse">
            <a:avLst/>
          </a:prstGeom>
          <a:solidFill>
            <a:srgbClr val="5A9DE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25880" y="282549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Domain-tuned embeddings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80560" y="2825496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TF-IDF/MiniLM for a plant-scale fine-tuned model as document volume grows.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4400" y="3593592"/>
            <a:ext cx="201168" cy="201168"/>
          </a:xfrm>
          <a:prstGeom prst="ellipse">
            <a:avLst/>
          </a:prstGeom>
          <a:solidFill>
            <a:srgbClr val="3FB6B0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5935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25880" y="348386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/ NER entity extraction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80560" y="3483864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regex to a fine-tuned extractor for higher recall on non-standard tags.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4400" y="42519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2519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25880" y="41422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at scale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480560" y="414223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networkx to Neo4j for Cypher queries — knowledge_graph.py isolates the swap to one file.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14400" y="4910328"/>
            <a:ext cx="201168" cy="201168"/>
          </a:xfrm>
          <a:prstGeom prst="ellipse">
            <a:avLst/>
          </a:prstGeom>
          <a:solidFill>
            <a:srgbClr val="E05A5A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9103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25880" y="4800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plant coordinates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480560" y="480060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AssetMind Twin true P&amp;ID / facility-GIS coordinates instead of an auto grid.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14400" y="5568696"/>
            <a:ext cx="201168" cy="201168"/>
          </a:xfrm>
          <a:prstGeom prst="ellipse">
            <a:avLst/>
          </a:prstGeom>
          <a:solidFill>
            <a:srgbClr val="5A9DE0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5686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25880" y="54589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multi-tenancy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480560" y="5458968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Per-plant access control and tenancy before any production deployment.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0" y="6355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AssetMind — From Documents to Decisions.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AssetMind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AssetMind — From Documents to Decisions</dc:title>
  <dc:subject>PptxGenJS Presentation</dc:subject>
  <dc:creator>AssetMind</dc:creator>
  <cp:lastModifiedBy>AssetMind</cp:lastModifiedBy>
  <cp:revision>1</cp:revision>
  <dcterms:created xsi:type="dcterms:W3CDTF">2026-07-10T09:53:22Z</dcterms:created>
  <dcterms:modified xsi:type="dcterms:W3CDTF">2026-07-10T09:53:22Z</dcterms:modified>
</cp:coreProperties>
</file>